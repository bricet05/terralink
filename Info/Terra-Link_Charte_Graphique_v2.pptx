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05C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669280"/>
            <a:ext cx="12188952" cy="1188720"/>
          </a:xfrm>
          <a:prstGeom prst="rect">
            <a:avLst/>
          </a:prstGeom>
          <a:solidFill>
            <a:srgbClr val="234531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965960"/>
            <a:ext cx="822960" cy="54864"/>
          </a:xfrm>
          <a:prstGeom prst="rect">
            <a:avLst/>
          </a:prstGeom>
          <a:solidFill>
            <a:srgbClr val="DDA64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DA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IDENTITÉ VISUELLE  ·  VERSION WEB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Charte graphique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8328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CE7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Guide de marque et d'intégration pour le site web Terra‑Link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9CD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Plateforme de suivi et de sécurisation des investissements agro-pastoraux — Sénégal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412480" y="6035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B9CDB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Version 2.0  ·  Octobre 2026</a:t>
            </a:r>
            <a:endParaRPr lang="en-US" sz="1100" dirty="0"/>
          </a:p>
        </p:txBody>
      </p:sp>
      <p:pic>
        <p:nvPicPr>
          <p:cNvPr id="9" name="Image 0" descr="/home/claude/assets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737360"/>
            <a:ext cx="3383280" cy="238193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C4A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 — L’ESSENCE DE LA MARQUE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05C4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Ce que le design doit faire ressentir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Quatre valeurs guident chaque choix graphique : si un élément ne les sert pas, il n’a pas sa place sur le site.</a:t>
            </a:r>
            <a:endParaRPr lang="en-US" sz="1200" dirty="0"/>
          </a:p>
        </p:txBody>
      </p:sp>
      <p:pic>
        <p:nvPicPr>
          <p:cNvPr id="5" name="Image 0" descr="/home/claude/assets/logo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411480"/>
            <a:ext cx="822960" cy="57938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6400800"/>
            <a:ext cx="10908792" cy="10973"/>
          </a:xfrm>
          <a:prstGeom prst="rect">
            <a:avLst/>
          </a:prstGeom>
          <a:solidFill>
            <a:srgbClr val="EAE1D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TERRA-LINK  ·  Charte graphique v2.0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634472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" y="2011680"/>
            <a:ext cx="2560320" cy="2240280"/>
          </a:xfrm>
          <a:prstGeom prst="roundRect">
            <a:avLst>
              <a:gd name="adj" fmla="val 5714"/>
            </a:avLst>
          </a:prstGeom>
          <a:solidFill>
            <a:srgbClr val="F4EFE6"/>
          </a:solidFill>
          <a:ln/>
        </p:spPr>
      </p:sp>
      <p:pic>
        <p:nvPicPr>
          <p:cNvPr id="10" name="Image 1" descr="/home/claude/src/x/ppt/media/image-7-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14400" y="2971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05C4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Confiance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3364992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Chaque information est prouvée : photos, relevés, rapports datés.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422599" y="2011680"/>
            <a:ext cx="2560320" cy="2240280"/>
          </a:xfrm>
          <a:prstGeom prst="roundRect">
            <a:avLst>
              <a:gd name="adj" fmla="val 5714"/>
            </a:avLst>
          </a:prstGeom>
          <a:solidFill>
            <a:srgbClr val="F4EFE6"/>
          </a:solidFill>
          <a:ln/>
        </p:spPr>
      </p:sp>
      <p:pic>
        <p:nvPicPr>
          <p:cNvPr id="14" name="Image 2" descr="/home/claude/src/x/ppt/media/image-7-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6919" y="228600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696919" y="2971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05C4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Transparence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3696919" y="3364992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 que le service fait — et ne garantit pas — est toujours dit clairement.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205118" y="2011680"/>
            <a:ext cx="2560320" cy="2240280"/>
          </a:xfrm>
          <a:prstGeom prst="roundRect">
            <a:avLst>
              <a:gd name="adj" fmla="val 5714"/>
            </a:avLst>
          </a:prstGeom>
          <a:solidFill>
            <a:srgbClr val="F4EFE6"/>
          </a:solidFill>
          <a:ln/>
        </p:spPr>
      </p:sp>
      <p:pic>
        <p:nvPicPr>
          <p:cNvPr id="18" name="Image 3" descr="/home/claude/src/x/ppt/media/image-7-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9438" y="228600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479438" y="2971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05C4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Proximité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6479438" y="3364992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Une présence réelle sur le terrain, des interlocuteurs identifiables.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8987638" y="2011680"/>
            <a:ext cx="2560320" cy="2240280"/>
          </a:xfrm>
          <a:prstGeom prst="roundRect">
            <a:avLst>
              <a:gd name="adj" fmla="val 5714"/>
            </a:avLst>
          </a:prstGeom>
          <a:solidFill>
            <a:srgbClr val="F4EFE6"/>
          </a:solidFill>
          <a:ln/>
        </p:spPr>
      </p:sp>
      <p:pic>
        <p:nvPicPr>
          <p:cNvPr id="22" name="Image 4" descr="/home/claude/src/x/ppt/media/image-7-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1958" y="2286000"/>
            <a:ext cx="502920" cy="50292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261958" y="2971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05C4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Clarté</a:t>
            </a:r>
            <a:endParaRPr lang="en-US" sz="1700" dirty="0"/>
          </a:p>
        </p:txBody>
      </p:sp>
      <p:sp>
        <p:nvSpPr>
          <p:cNvPr id="24" name="Text 17"/>
          <p:cNvSpPr txBox="1"/>
          <p:nvPr/>
        </p:nvSpPr>
        <p:spPr>
          <a:xfrm>
            <a:off x="9261958" y="3364992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langage simple, accessible à un public non spécialiste.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640080" y="4526280"/>
            <a:ext cx="5394960" cy="1645920"/>
          </a:xfrm>
          <a:prstGeom prst="roundRect">
            <a:avLst>
              <a:gd name="adj" fmla="val 7778"/>
            </a:avLst>
          </a:prstGeom>
          <a:solidFill>
            <a:srgbClr val="E3ECE5"/>
          </a:solidFill>
          <a:ln/>
        </p:spPr>
      </p:sp>
      <p:sp>
        <p:nvSpPr>
          <p:cNvPr id="26" name="Text 19"/>
          <p:cNvSpPr txBox="1"/>
          <p:nvPr/>
        </p:nvSpPr>
        <p:spPr>
          <a:xfrm>
            <a:off x="868680" y="4709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05C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NOUS DISONS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868680" y="50292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23453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« Votre exploitation avance. Même quand vous êtes loin. »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868680" y="5760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Ton : rassurant, précis, sobre.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153912" y="4526280"/>
            <a:ext cx="5394960" cy="1645920"/>
          </a:xfrm>
          <a:prstGeom prst="roundRect">
            <a:avLst>
              <a:gd name="adj" fmla="val 7778"/>
            </a:avLst>
          </a:prstGeom>
          <a:solidFill>
            <a:srgbClr val="F5E3D6"/>
          </a:solidFill>
          <a:ln/>
        </p:spPr>
      </p:sp>
      <p:sp>
        <p:nvSpPr>
          <p:cNvPr id="30" name="Text 23"/>
          <p:cNvSpPr txBox="1"/>
          <p:nvPr/>
        </p:nvSpPr>
        <p:spPr>
          <a:xfrm>
            <a:off x="6382512" y="4709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C4A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NOUS ÉVITONS</a:t>
            </a:r>
            <a:endParaRPr lang="en-US" sz="1000" dirty="0"/>
          </a:p>
        </p:txBody>
      </p:sp>
      <p:sp>
        <p:nvSpPr>
          <p:cNvPr id="31" name="Text 24"/>
          <p:cNvSpPr txBox="1"/>
          <p:nvPr/>
        </p:nvSpPr>
        <p:spPr>
          <a:xfrm>
            <a:off x="6382512" y="502920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 jargon agri-tech et les anglicismes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 promesses de rendement ou de gains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 ton publicitaire, alarmiste ou trop familier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C4A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 — LE LOGO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05C4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Symbole, zone de protection et tailles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 symbole associe la feuille (croissance) au repère de localisation (suivi à distance) dans un nœud : le lien de confiance.</a:t>
            </a:r>
            <a:endParaRPr lang="en-US" sz="1200" dirty="0"/>
          </a:p>
        </p:txBody>
      </p:sp>
      <p:pic>
        <p:nvPicPr>
          <p:cNvPr id="5" name="Image 0" descr="/home/claude/assets/logo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411480"/>
            <a:ext cx="822960" cy="57938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6400800"/>
            <a:ext cx="10908792" cy="10973"/>
          </a:xfrm>
          <a:prstGeom prst="rect">
            <a:avLst/>
          </a:prstGeom>
          <a:solidFill>
            <a:srgbClr val="EAE1D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TERRA-LINK  ·  Charte graphique v2.0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634472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" y="2011680"/>
            <a:ext cx="6035040" cy="3931920"/>
          </a:xfrm>
          <a:prstGeom prst="rect">
            <a:avLst/>
          </a:prstGeom>
          <a:solidFill>
            <a:srgbClr val="F4EFE6"/>
          </a:solidFill>
          <a:ln/>
        </p:spPr>
      </p:sp>
      <p:pic>
        <p:nvPicPr>
          <p:cNvPr id="10" name="Image 1" descr="/home/claude/assets/logo_col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2816352"/>
            <a:ext cx="3291840" cy="2317555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435608" y="2240280"/>
            <a:ext cx="4443984" cy="3470148"/>
          </a:xfrm>
          <a:prstGeom prst="rect">
            <a:avLst/>
          </a:prstGeom>
          <a:ln w="12700">
            <a:solidFill>
              <a:srgbClr val="B65F2E"/>
            </a:solidFill>
            <a:prstDash val="dash"/>
          </a:ln>
        </p:spPr>
      </p:sp>
      <p:sp>
        <p:nvSpPr>
          <p:cNvPr id="12" name="Text 8"/>
          <p:cNvSpPr txBox="1"/>
          <p:nvPr/>
        </p:nvSpPr>
        <p:spPr>
          <a:xfrm>
            <a:off x="1554480" y="3840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C4A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3520440" y="23317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C4A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" y="601675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Version principale — zone de protection : x = ¼ de la hauteur du symbole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7040880" y="2011680"/>
            <a:ext cx="4507992" cy="1234440"/>
          </a:xfrm>
          <a:prstGeom prst="roundRect">
            <a:avLst>
              <a:gd name="adj" fmla="val 8889"/>
            </a:avLst>
          </a:prstGeom>
          <a:solidFill>
            <a:srgbClr val="E3ECE5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269480" y="2148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05C4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Zone de protection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7269480" y="2487168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Aucun texte, bord de page ni image ne doit entrer dans la zone x autour du symbole.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7040880" y="3383280"/>
            <a:ext cx="4507992" cy="1234440"/>
          </a:xfrm>
          <a:prstGeom prst="roundRect">
            <a:avLst>
              <a:gd name="adj" fmla="val 8889"/>
            </a:avLst>
          </a:prstGeom>
          <a:solidFill>
            <a:srgbClr val="F5E3D6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7269480" y="3520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05C4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Tailles minimales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7269480" y="3858768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Web : 40 px de hauteur en en-tête, 32 px minimum. Impression : 1,5 cm. En deçà : symbole seul (favicon, avatar).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7040880" y="4754880"/>
            <a:ext cx="4507992" cy="1234440"/>
          </a:xfrm>
          <a:prstGeom prst="roundRect">
            <a:avLst>
              <a:gd name="adj" fmla="val 8889"/>
            </a:avLst>
          </a:prstGeom>
          <a:solidFill>
            <a:srgbClr val="EAE1D2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7269480" y="48920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05C4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Signature (symbole + nom)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7269480" y="5230368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 nom s’écrit TERRA-LINK en Lora Bold, majuscules, interlettrage +8 %, à droite du symbole.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C4A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 — LE LOGO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05C4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Trois variantes selon le fond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 choix de la variante dépend toujours du fond. Le contraste minimum entre le logo et son fond est de 4,5:1.</a:t>
            </a:r>
            <a:endParaRPr lang="en-US" sz="1200" dirty="0"/>
          </a:p>
        </p:txBody>
      </p:sp>
      <p:pic>
        <p:nvPicPr>
          <p:cNvPr id="5" name="Image 0" descr="/home/claude/assets/logo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411480"/>
            <a:ext cx="822960" cy="57938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6400800"/>
            <a:ext cx="10908792" cy="10973"/>
          </a:xfrm>
          <a:prstGeom prst="rect">
            <a:avLst/>
          </a:prstGeom>
          <a:solidFill>
            <a:srgbClr val="EAE1D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TERRA-LINK  ·  Charte graphique v2.0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634472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" y="2011680"/>
            <a:ext cx="3383280" cy="2286000"/>
          </a:xfrm>
          <a:prstGeom prst="rect">
            <a:avLst/>
          </a:prstGeom>
          <a:solidFill>
            <a:srgbClr val="F4EFE6"/>
          </a:solidFill>
          <a:ln/>
        </p:spPr>
      </p:sp>
      <p:pic>
        <p:nvPicPr>
          <p:cNvPr id="10" name="Image 1" descr="/home/claude/assets/logo_col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194560"/>
            <a:ext cx="2194560" cy="154503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0080" y="43708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05C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Couleur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4617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Fonds Blanc, Sable, Sable+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402836" y="2011680"/>
            <a:ext cx="3383280" cy="2286000"/>
          </a:xfrm>
          <a:prstGeom prst="rect">
            <a:avLst/>
          </a:prstGeom>
          <a:solidFill>
            <a:srgbClr val="305C41"/>
          </a:solidFill>
          <a:ln/>
        </p:spPr>
      </p:sp>
      <p:pic>
        <p:nvPicPr>
          <p:cNvPr id="14" name="Image 2" descr="/home/claude/assets/logo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7196" y="2194560"/>
            <a:ext cx="2194560" cy="154503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402836" y="43708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05C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Blanc</a:t>
            </a:r>
            <a:endParaRPr lang="en-US" sz="1150" dirty="0"/>
          </a:p>
        </p:txBody>
      </p:sp>
      <p:sp>
        <p:nvSpPr>
          <p:cNvPr id="16" name="Text 11"/>
          <p:cNvSpPr txBox="1"/>
          <p:nvPr/>
        </p:nvSpPr>
        <p:spPr>
          <a:xfrm>
            <a:off x="4402836" y="4617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Fonds Vert Forêt, Vert profond, photos sous voile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8165592" y="2011680"/>
            <a:ext cx="33832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1D2"/>
            </a:solidFill>
            <a:prstDash val="solid"/>
          </a:ln>
        </p:spPr>
      </p:sp>
      <p:pic>
        <p:nvPicPr>
          <p:cNvPr id="18" name="Image 3" descr="/home/claude/assets/logo_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9952" y="2194560"/>
            <a:ext cx="2194560" cy="154503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165592" y="43708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05C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Monochrome</a:t>
            </a:r>
            <a:endParaRPr lang="en-US" sz="1150" dirty="0"/>
          </a:p>
        </p:txBody>
      </p:sp>
      <p:sp>
        <p:nvSpPr>
          <p:cNvPr id="20" name="Text 14"/>
          <p:cNvSpPr txBox="1"/>
          <p:nvPr/>
        </p:nvSpPr>
        <p:spPr>
          <a:xfrm>
            <a:off x="8165592" y="4617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Impression 1 couleur, tampons, noir &amp; blanc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640080" y="5074920"/>
            <a:ext cx="5394960" cy="1143000"/>
          </a:xfrm>
          <a:prstGeom prst="roundRect">
            <a:avLst>
              <a:gd name="adj" fmla="val 9600"/>
            </a:avLst>
          </a:prstGeom>
          <a:solidFill>
            <a:srgbClr val="E3ECE5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868680" y="51937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05C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À FAIRE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868680" y="5458968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Utiliser les fichiers SVG fournis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Respecter la zone de protection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Garder les proportions (hauteur fixe, largeur auto)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153912" y="5074920"/>
            <a:ext cx="5394960" cy="1143000"/>
          </a:xfrm>
          <a:prstGeom prst="roundRect">
            <a:avLst>
              <a:gd name="adj" fmla="val 9600"/>
            </a:avLst>
          </a:prstGeom>
          <a:solidFill>
            <a:srgbClr val="F5E3D6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6382512" y="51937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C4A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À ÉVITER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6382512" y="5458968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Déformer, pivoter ou recolorer le logo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Ajouter une ombre, un contour ou un effet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 poser sur une photo chargée sans voile de couleur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C4A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 — COULEURS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05C4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Une palette née du terrain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terre et la végétation, les deux réalités que Terra-Link relie. Les teintes sont inchangées ; l’Or du logo devient une couleur d’accent à part entière.</a:t>
            </a:r>
            <a:endParaRPr lang="en-US" sz="1200" dirty="0"/>
          </a:p>
        </p:txBody>
      </p:sp>
      <p:pic>
        <p:nvPicPr>
          <p:cNvPr id="5" name="Image 0" descr="/home/claude/assets/logo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411480"/>
            <a:ext cx="822960" cy="57938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6400800"/>
            <a:ext cx="10908792" cy="10973"/>
          </a:xfrm>
          <a:prstGeom prst="rect">
            <a:avLst/>
          </a:prstGeom>
          <a:solidFill>
            <a:srgbClr val="EAE1D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TERRA-LINK  ·  Charte graphique v2.0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634472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" y="2011680"/>
            <a:ext cx="3520440" cy="1371600"/>
          </a:xfrm>
          <a:prstGeom prst="rect">
            <a:avLst/>
          </a:prstGeom>
          <a:solidFill>
            <a:srgbClr val="305C4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21762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Vert Forêt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2743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#305C41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RGB 48, 92, 65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345643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Couleur principale — structure, titres, en-tête, pied de page. Confiance et croissance.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334256" y="2011680"/>
            <a:ext cx="3520440" cy="1371600"/>
          </a:xfrm>
          <a:prstGeom prst="rect">
            <a:avLst/>
          </a:prstGeom>
          <a:solidFill>
            <a:srgbClr val="B65F2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62856" y="21762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Terracotta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4562856" y="2743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#B65F2E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RGB 182, 95, 46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4334256" y="345643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Couleur d’action — boutons principaux, appels à l’action, éléments interactifs.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028432" y="2011680"/>
            <a:ext cx="3520440" cy="1371600"/>
          </a:xfrm>
          <a:prstGeom prst="rect">
            <a:avLst/>
          </a:prstGeom>
          <a:solidFill>
            <a:srgbClr val="DDA64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257032" y="21762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2A2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Or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8257032" y="2743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#DDA641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RGB 221, 166, 65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8028432" y="345643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Accent rare (≤ 5 %), tiré du logo — surlignage d’un mot, badges. Jamais en texte sur fond clair.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40080" y="4114800"/>
            <a:ext cx="1243584" cy="640080"/>
          </a:xfrm>
          <a:prstGeom prst="rect">
            <a:avLst/>
          </a:prstGeom>
          <a:solidFill>
            <a:srgbClr val="234531"/>
          </a:solidFill>
          <a:ln w="9525">
            <a:solidFill>
              <a:srgbClr val="EAE1D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0080" y="481888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Vert profond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640080" y="50292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#234531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020824" y="4114800"/>
            <a:ext cx="1243584" cy="640080"/>
          </a:xfrm>
          <a:prstGeom prst="rect">
            <a:avLst/>
          </a:prstGeom>
          <a:solidFill>
            <a:srgbClr val="8C4A22"/>
          </a:solidFill>
          <a:ln w="9525">
            <a:solidFill>
              <a:srgbClr val="EAE1D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020824" y="481888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Terracotta foncé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2020824" y="50292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#8C4A22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3401568" y="4114800"/>
            <a:ext cx="1243584" cy="640080"/>
          </a:xfrm>
          <a:prstGeom prst="rect">
            <a:avLst/>
          </a:prstGeom>
          <a:solidFill>
            <a:srgbClr val="E3ECE5"/>
          </a:solidFill>
          <a:ln w="9525">
            <a:solidFill>
              <a:srgbClr val="EAE1D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401568" y="481888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Vert clair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3401568" y="50292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#E3ECE5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782312" y="4114800"/>
            <a:ext cx="1243584" cy="640080"/>
          </a:xfrm>
          <a:prstGeom prst="rect">
            <a:avLst/>
          </a:prstGeom>
          <a:solidFill>
            <a:srgbClr val="F5E3D6"/>
          </a:solidFill>
          <a:ln w="9525">
            <a:solidFill>
              <a:srgbClr val="EAE1D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782312" y="481888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Terracotta clair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4782312" y="50292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#F5E3D6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6163056" y="4114800"/>
            <a:ext cx="1243584" cy="640080"/>
          </a:xfrm>
          <a:prstGeom prst="rect">
            <a:avLst/>
          </a:prstGeom>
          <a:solidFill>
            <a:srgbClr val="F4EFE6"/>
          </a:solidFill>
          <a:ln w="9525">
            <a:solidFill>
              <a:srgbClr val="EAE1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163056" y="481888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Sable</a:t>
            </a:r>
            <a:endParaRPr lang="en-US" sz="950" dirty="0"/>
          </a:p>
        </p:txBody>
      </p:sp>
      <p:sp>
        <p:nvSpPr>
          <p:cNvPr id="35" name="Text 32"/>
          <p:cNvSpPr txBox="1"/>
          <p:nvPr/>
        </p:nvSpPr>
        <p:spPr>
          <a:xfrm>
            <a:off x="6163056" y="50292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#F4EFE6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7543800" y="4114800"/>
            <a:ext cx="1243584" cy="640080"/>
          </a:xfrm>
          <a:prstGeom prst="rect">
            <a:avLst/>
          </a:prstGeom>
          <a:solidFill>
            <a:srgbClr val="EAE1D2"/>
          </a:solidFill>
          <a:ln w="9525">
            <a:solidFill>
              <a:srgbClr val="EAE1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543800" y="481888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Sable+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7543800" y="50292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#EAE1D2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8924544" y="4114800"/>
            <a:ext cx="1243584" cy="640080"/>
          </a:xfrm>
          <a:prstGeom prst="rect">
            <a:avLst/>
          </a:prstGeom>
          <a:solidFill>
            <a:srgbClr val="2B2A28"/>
          </a:solidFill>
          <a:ln w="9525">
            <a:solidFill>
              <a:srgbClr val="EAE1D2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924544" y="481888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Charbon</a:t>
            </a:r>
            <a:endParaRPr lang="en-US" sz="950" dirty="0"/>
          </a:p>
        </p:txBody>
      </p:sp>
      <p:sp>
        <p:nvSpPr>
          <p:cNvPr id="41" name="Text 38"/>
          <p:cNvSpPr txBox="1"/>
          <p:nvPr/>
        </p:nvSpPr>
        <p:spPr>
          <a:xfrm>
            <a:off x="8924544" y="50292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#2B2A28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10305288" y="4114800"/>
            <a:ext cx="1243584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AE1D2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10305288" y="481888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Blanc</a:t>
            </a:r>
            <a:endParaRPr lang="en-US" sz="950" dirty="0"/>
          </a:p>
        </p:txBody>
      </p:sp>
      <p:sp>
        <p:nvSpPr>
          <p:cNvPr id="44" name="Text 41"/>
          <p:cNvSpPr txBox="1"/>
          <p:nvPr/>
        </p:nvSpPr>
        <p:spPr>
          <a:xfrm>
            <a:off x="10305288" y="50292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#FFFFFF</a:t>
            </a:r>
            <a:endParaRPr lang="en-US" sz="900" dirty="0"/>
          </a:p>
        </p:txBody>
      </p:sp>
      <p:sp>
        <p:nvSpPr>
          <p:cNvPr id="45" name="Text 42"/>
          <p:cNvSpPr txBox="1"/>
          <p:nvPr/>
        </p:nvSpPr>
        <p:spPr>
          <a:xfrm>
            <a:off x="640080" y="54406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RÉPARTITION D’USAGE SUR UNE PAGE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640080" y="5715000"/>
            <a:ext cx="6545275" cy="384048"/>
          </a:xfrm>
          <a:prstGeom prst="rect">
            <a:avLst/>
          </a:prstGeom>
          <a:solidFill>
            <a:srgbClr val="F4EFE6"/>
          </a:solidFill>
          <a:ln w="9525">
            <a:solidFill>
              <a:srgbClr val="EAE1D2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749808" y="5715000"/>
            <a:ext cx="64538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60 %  Sable &amp; Blanc — fonds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7185355" y="5715000"/>
            <a:ext cx="2727198" cy="384048"/>
          </a:xfrm>
          <a:prstGeom prst="rect">
            <a:avLst/>
          </a:prstGeom>
          <a:solidFill>
            <a:srgbClr val="305C41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7295083" y="5715000"/>
            <a:ext cx="26357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25 %  Vert — structure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9912553" y="5715000"/>
            <a:ext cx="1090879" cy="384048"/>
          </a:xfrm>
          <a:prstGeom prst="rect">
            <a:avLst/>
          </a:prstGeom>
          <a:solidFill>
            <a:srgbClr val="B65F2E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10022281" y="5715000"/>
            <a:ext cx="999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10 %  Terracotta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11003432" y="5715000"/>
            <a:ext cx="545440" cy="384048"/>
          </a:xfrm>
          <a:prstGeom prst="rect">
            <a:avLst/>
          </a:prstGeom>
          <a:solidFill>
            <a:srgbClr val="DDA641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11113160" y="5715000"/>
            <a:ext cx="45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5 %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C4A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 — COULEURS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05C4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Accessibilité : les bons couples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texte doit toujours atteindre 4,5:1 (niveau AA). Ces combinaisons sont calculées, pas estimées : le développeur peut s’y fier.</a:t>
            </a:r>
            <a:endParaRPr lang="en-US" sz="1200" dirty="0"/>
          </a:p>
        </p:txBody>
      </p:sp>
      <p:pic>
        <p:nvPicPr>
          <p:cNvPr id="5" name="Image 0" descr="/home/claude/assets/logo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411480"/>
            <a:ext cx="822960" cy="57938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6400800"/>
            <a:ext cx="10908792" cy="10973"/>
          </a:xfrm>
          <a:prstGeom prst="rect">
            <a:avLst/>
          </a:prstGeom>
          <a:solidFill>
            <a:srgbClr val="EAE1D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TERRA-LINK  ·  Charte graphique v2.0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634472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" y="1965960"/>
            <a:ext cx="1097280" cy="402336"/>
          </a:xfrm>
          <a:prstGeom prst="rect">
            <a:avLst/>
          </a:prstGeom>
          <a:solidFill>
            <a:srgbClr val="305C41"/>
          </a:solidFill>
          <a:ln w="9525">
            <a:solidFill>
              <a:srgbClr val="EAE1D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19659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Aa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920240" y="196596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Blanc sur Vert Forêt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029200" y="196596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En-têtes, bandeaux, boutons secondaires pleins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0" y="19659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7,68:1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0424160" y="2011680"/>
            <a:ext cx="1124712" cy="310896"/>
          </a:xfrm>
          <a:prstGeom prst="roundRect">
            <a:avLst>
              <a:gd name="adj" fmla="val 50000"/>
            </a:avLst>
          </a:prstGeom>
          <a:solidFill>
            <a:srgbClr val="E3ECE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0424160" y="2011680"/>
            <a:ext cx="1124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05C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AAA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40080" y="2423160"/>
            <a:ext cx="1097280" cy="402336"/>
          </a:xfrm>
          <a:prstGeom prst="rect">
            <a:avLst/>
          </a:prstGeom>
          <a:solidFill>
            <a:srgbClr val="234531"/>
          </a:solidFill>
          <a:ln w="9525">
            <a:solidFill>
              <a:srgbClr val="EAE1D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24231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Aa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920240" y="242316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Blanc sur Vert profond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029200" y="242316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Hero, pied de page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0" y="24231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10,68:1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0424160" y="2468880"/>
            <a:ext cx="1124712" cy="310896"/>
          </a:xfrm>
          <a:prstGeom prst="roundRect">
            <a:avLst>
              <a:gd name="adj" fmla="val 50000"/>
            </a:avLst>
          </a:prstGeom>
          <a:solidFill>
            <a:srgbClr val="E3ECE5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10424160" y="2468880"/>
            <a:ext cx="1124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05C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AAA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40080" y="2880360"/>
            <a:ext cx="1097280" cy="402336"/>
          </a:xfrm>
          <a:prstGeom prst="rect">
            <a:avLst/>
          </a:prstGeom>
          <a:solidFill>
            <a:srgbClr val="B65F2E"/>
          </a:solidFill>
          <a:ln w="9525">
            <a:solidFill>
              <a:srgbClr val="EAE1D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28803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Aa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1920240" y="288036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Blanc sur Terracotta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5029200" y="288036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Boutons principaux (16 px gras minimum)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9144000" y="28803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4,50:1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10424160" y="2926080"/>
            <a:ext cx="1124712" cy="310896"/>
          </a:xfrm>
          <a:prstGeom prst="roundRect">
            <a:avLst>
              <a:gd name="adj" fmla="val 50000"/>
            </a:avLst>
          </a:prstGeom>
          <a:solidFill>
            <a:srgbClr val="E3ECE5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424160" y="2926080"/>
            <a:ext cx="1124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05C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AA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640080" y="3337560"/>
            <a:ext cx="1097280" cy="402336"/>
          </a:xfrm>
          <a:prstGeom prst="rect">
            <a:avLst/>
          </a:prstGeom>
          <a:solidFill>
            <a:srgbClr val="F4EFE6"/>
          </a:solidFill>
          <a:ln w="9525">
            <a:solidFill>
              <a:srgbClr val="EAE1D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40080" y="33375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A2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Aa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1920240" y="333756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Charbon sur Sable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5029200" y="333756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Texte courant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9144000" y="33375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12,52:1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0424160" y="3383280"/>
            <a:ext cx="1124712" cy="310896"/>
          </a:xfrm>
          <a:prstGeom prst="roundRect">
            <a:avLst>
              <a:gd name="adj" fmla="val 50000"/>
            </a:avLst>
          </a:prstGeom>
          <a:solidFill>
            <a:srgbClr val="E3ECE5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10424160" y="3383280"/>
            <a:ext cx="1124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05C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AAA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640080" y="3794760"/>
            <a:ext cx="1097280" cy="402336"/>
          </a:xfrm>
          <a:prstGeom prst="rect">
            <a:avLst/>
          </a:prstGeom>
          <a:solidFill>
            <a:srgbClr val="F4EFE6"/>
          </a:solidFill>
          <a:ln w="9525">
            <a:solidFill>
              <a:srgbClr val="EAE1D2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40080" y="37947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05C4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Aa</a:t>
            </a:r>
            <a:endParaRPr lang="en-US" sz="1600" dirty="0"/>
          </a:p>
        </p:txBody>
      </p:sp>
      <p:sp>
        <p:nvSpPr>
          <p:cNvPr id="39" name="Text 36"/>
          <p:cNvSpPr txBox="1"/>
          <p:nvPr/>
        </p:nvSpPr>
        <p:spPr>
          <a:xfrm>
            <a:off x="1920240" y="379476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Vert Forêt sur Sable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5029200" y="379476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Titres, liens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9144000" y="37947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6,71:1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10424160" y="3840480"/>
            <a:ext cx="1124712" cy="310896"/>
          </a:xfrm>
          <a:prstGeom prst="roundRect">
            <a:avLst>
              <a:gd name="adj" fmla="val 50000"/>
            </a:avLst>
          </a:prstGeom>
          <a:solidFill>
            <a:srgbClr val="E3ECE5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10424160" y="3840480"/>
            <a:ext cx="1124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05C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AA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640080" y="4251960"/>
            <a:ext cx="1097280" cy="402336"/>
          </a:xfrm>
          <a:prstGeom prst="rect">
            <a:avLst/>
          </a:prstGeom>
          <a:solidFill>
            <a:srgbClr val="F4EFE6"/>
          </a:solidFill>
          <a:ln w="9525">
            <a:solidFill>
              <a:srgbClr val="EAE1D2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640080" y="42519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65F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Aa</a:t>
            </a:r>
            <a:endParaRPr lang="en-US" sz="1600" dirty="0"/>
          </a:p>
        </p:txBody>
      </p:sp>
      <p:sp>
        <p:nvSpPr>
          <p:cNvPr id="46" name="Text 43"/>
          <p:cNvSpPr txBox="1"/>
          <p:nvPr/>
        </p:nvSpPr>
        <p:spPr>
          <a:xfrm>
            <a:off x="1920240" y="425196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Terracotta sur Sable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5029200" y="425196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 de petit texte : grands aplats uniquement</a:t>
            </a:r>
            <a:endParaRPr lang="en-US" sz="1000" dirty="0"/>
          </a:p>
        </p:txBody>
      </p:sp>
      <p:sp>
        <p:nvSpPr>
          <p:cNvPr id="48" name="Text 45"/>
          <p:cNvSpPr txBox="1"/>
          <p:nvPr/>
        </p:nvSpPr>
        <p:spPr>
          <a:xfrm>
            <a:off x="9144000" y="42519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3,93:1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10424160" y="4297680"/>
            <a:ext cx="1124712" cy="310896"/>
          </a:xfrm>
          <a:prstGeom prst="roundRect">
            <a:avLst>
              <a:gd name="adj" fmla="val 50000"/>
            </a:avLst>
          </a:prstGeom>
          <a:solidFill>
            <a:srgbClr val="F5E3D6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10424160" y="4297680"/>
            <a:ext cx="1124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C4A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Gros texte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640080" y="4709160"/>
            <a:ext cx="1097280" cy="402336"/>
          </a:xfrm>
          <a:prstGeom prst="rect">
            <a:avLst/>
          </a:prstGeom>
          <a:solidFill>
            <a:srgbClr val="F4EFE6"/>
          </a:solidFill>
          <a:ln w="9525">
            <a:solidFill>
              <a:srgbClr val="EAE1D2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640080" y="47091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C4A2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Aa</a:t>
            </a:r>
            <a:endParaRPr lang="en-US" sz="1600" dirty="0"/>
          </a:p>
        </p:txBody>
      </p:sp>
      <p:sp>
        <p:nvSpPr>
          <p:cNvPr id="53" name="Text 50"/>
          <p:cNvSpPr txBox="1"/>
          <p:nvPr/>
        </p:nvSpPr>
        <p:spPr>
          <a:xfrm>
            <a:off x="1920240" y="470916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Terracotta foncé sur Sable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5029200" y="470916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Texte accent, liens, étiquettes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9144000" y="47091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5,88:1</a:t>
            </a:r>
            <a:endParaRPr lang="en-US" sz="1100" dirty="0"/>
          </a:p>
        </p:txBody>
      </p:sp>
      <p:sp>
        <p:nvSpPr>
          <p:cNvPr id="56" name="Shape 53"/>
          <p:cNvSpPr/>
          <p:nvPr/>
        </p:nvSpPr>
        <p:spPr>
          <a:xfrm>
            <a:off x="10424160" y="4754880"/>
            <a:ext cx="1124712" cy="310896"/>
          </a:xfrm>
          <a:prstGeom prst="roundRect">
            <a:avLst>
              <a:gd name="adj" fmla="val 50000"/>
            </a:avLst>
          </a:prstGeom>
          <a:solidFill>
            <a:srgbClr val="E3ECE5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10424160" y="4754880"/>
            <a:ext cx="1124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05C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AA</a:t>
            </a:r>
            <a:endParaRPr lang="en-US" sz="950" dirty="0"/>
          </a:p>
        </p:txBody>
      </p:sp>
      <p:sp>
        <p:nvSpPr>
          <p:cNvPr id="58" name="Shape 55"/>
          <p:cNvSpPr/>
          <p:nvPr/>
        </p:nvSpPr>
        <p:spPr>
          <a:xfrm>
            <a:off x="640080" y="5166360"/>
            <a:ext cx="1097280" cy="402336"/>
          </a:xfrm>
          <a:prstGeom prst="rect">
            <a:avLst/>
          </a:prstGeom>
          <a:solidFill>
            <a:srgbClr val="DDA641"/>
          </a:solidFill>
          <a:ln w="9525">
            <a:solidFill>
              <a:srgbClr val="EAE1D2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640080" y="51663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A2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Aa</a:t>
            </a:r>
            <a:endParaRPr lang="en-US" sz="1600" dirty="0"/>
          </a:p>
        </p:txBody>
      </p:sp>
      <p:sp>
        <p:nvSpPr>
          <p:cNvPr id="60" name="Text 57"/>
          <p:cNvSpPr txBox="1"/>
          <p:nvPr/>
        </p:nvSpPr>
        <p:spPr>
          <a:xfrm>
            <a:off x="1920240" y="516636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Charbon sur Or</a:t>
            </a:r>
            <a:endParaRPr lang="en-US" sz="1100" dirty="0"/>
          </a:p>
        </p:txBody>
      </p:sp>
      <p:sp>
        <p:nvSpPr>
          <p:cNvPr id="61" name="Text 58"/>
          <p:cNvSpPr txBox="1"/>
          <p:nvPr/>
        </p:nvSpPr>
        <p:spPr>
          <a:xfrm>
            <a:off x="5029200" y="516636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Badges, surlignage</a:t>
            </a:r>
            <a:endParaRPr lang="en-US" sz="1000" dirty="0"/>
          </a:p>
        </p:txBody>
      </p:sp>
      <p:sp>
        <p:nvSpPr>
          <p:cNvPr id="62" name="Text 59"/>
          <p:cNvSpPr txBox="1"/>
          <p:nvPr/>
        </p:nvSpPr>
        <p:spPr>
          <a:xfrm>
            <a:off x="9144000" y="51663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6,56:1</a:t>
            </a:r>
            <a:endParaRPr lang="en-US" sz="1100" dirty="0"/>
          </a:p>
        </p:txBody>
      </p:sp>
      <p:sp>
        <p:nvSpPr>
          <p:cNvPr id="63" name="Shape 60"/>
          <p:cNvSpPr/>
          <p:nvPr/>
        </p:nvSpPr>
        <p:spPr>
          <a:xfrm>
            <a:off x="10424160" y="5212080"/>
            <a:ext cx="1124712" cy="310896"/>
          </a:xfrm>
          <a:prstGeom prst="roundRect">
            <a:avLst>
              <a:gd name="adj" fmla="val 50000"/>
            </a:avLst>
          </a:prstGeom>
          <a:solidFill>
            <a:srgbClr val="E3ECE5"/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10424160" y="5212080"/>
            <a:ext cx="1124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05C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AA</a:t>
            </a:r>
            <a:endParaRPr lang="en-US" sz="950" dirty="0"/>
          </a:p>
        </p:txBody>
      </p:sp>
      <p:sp>
        <p:nvSpPr>
          <p:cNvPr id="65" name="Shape 62"/>
          <p:cNvSpPr/>
          <p:nvPr/>
        </p:nvSpPr>
        <p:spPr>
          <a:xfrm>
            <a:off x="640080" y="5623560"/>
            <a:ext cx="1097280" cy="402336"/>
          </a:xfrm>
          <a:prstGeom prst="rect">
            <a:avLst/>
          </a:prstGeom>
          <a:solidFill>
            <a:srgbClr val="DDA641"/>
          </a:solidFill>
          <a:ln w="9525">
            <a:solidFill>
              <a:srgbClr val="EAE1D2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640080" y="56235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Aa</a:t>
            </a:r>
            <a:endParaRPr lang="en-US" sz="1600" dirty="0"/>
          </a:p>
        </p:txBody>
      </p:sp>
      <p:sp>
        <p:nvSpPr>
          <p:cNvPr id="67" name="Text 64"/>
          <p:cNvSpPr txBox="1"/>
          <p:nvPr/>
        </p:nvSpPr>
        <p:spPr>
          <a:xfrm>
            <a:off x="1920240" y="562356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Blanc sur Or</a:t>
            </a:r>
            <a:endParaRPr lang="en-US" sz="1100" dirty="0"/>
          </a:p>
        </p:txBody>
      </p:sp>
      <p:sp>
        <p:nvSpPr>
          <p:cNvPr id="68" name="Text 65"/>
          <p:cNvSpPr txBox="1"/>
          <p:nvPr/>
        </p:nvSpPr>
        <p:spPr>
          <a:xfrm>
            <a:off x="5029200" y="562356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Interdit</a:t>
            </a:r>
            <a:endParaRPr lang="en-US" sz="1000" dirty="0"/>
          </a:p>
        </p:txBody>
      </p:sp>
      <p:sp>
        <p:nvSpPr>
          <p:cNvPr id="69" name="Text 66"/>
          <p:cNvSpPr txBox="1"/>
          <p:nvPr/>
        </p:nvSpPr>
        <p:spPr>
          <a:xfrm>
            <a:off x="9144000" y="56235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2,19:1</a:t>
            </a:r>
            <a:endParaRPr lang="en-US" sz="1100" dirty="0"/>
          </a:p>
        </p:txBody>
      </p:sp>
      <p:sp>
        <p:nvSpPr>
          <p:cNvPr id="70" name="Shape 67"/>
          <p:cNvSpPr/>
          <p:nvPr/>
        </p:nvSpPr>
        <p:spPr>
          <a:xfrm>
            <a:off x="10424160" y="5669280"/>
            <a:ext cx="1124712" cy="310896"/>
          </a:xfrm>
          <a:prstGeom prst="roundRect">
            <a:avLst>
              <a:gd name="adj" fmla="val 50000"/>
            </a:avLst>
          </a:prstGeom>
          <a:solidFill>
            <a:srgbClr val="2B2A28"/>
          </a:solidFill>
          <a:ln/>
        </p:spPr>
      </p:sp>
      <p:sp>
        <p:nvSpPr>
          <p:cNvPr id="71" name="Text 68"/>
          <p:cNvSpPr txBox="1"/>
          <p:nvPr/>
        </p:nvSpPr>
        <p:spPr>
          <a:xfrm>
            <a:off x="10424160" y="5669280"/>
            <a:ext cx="1124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Échec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C4A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 — TYPOGRAPHIE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05C4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Un duo gratuit, conçu pour l’écran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Cambria et Calibri sont des polices de bureau : absentes de nombreux téléphones, elles donneraient un rendu différent selon l’appareil. Lora et Poppins se chargent depuis Google Fonts.</a:t>
            </a:r>
            <a:endParaRPr lang="en-US" sz="1200" dirty="0"/>
          </a:p>
        </p:txBody>
      </p:sp>
      <p:pic>
        <p:nvPicPr>
          <p:cNvPr id="5" name="Image 0" descr="/home/claude/assets/logo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411480"/>
            <a:ext cx="822960" cy="57938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6400800"/>
            <a:ext cx="10908792" cy="10973"/>
          </a:xfrm>
          <a:prstGeom prst="rect">
            <a:avLst/>
          </a:prstGeom>
          <a:solidFill>
            <a:srgbClr val="EAE1D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TERRA-LINK  ·  Charte graphique v2.0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634472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" y="2240280"/>
            <a:ext cx="5349240" cy="3931920"/>
          </a:xfrm>
          <a:prstGeom prst="roundRect">
            <a:avLst>
              <a:gd name="adj" fmla="val 3256"/>
            </a:avLst>
          </a:prstGeom>
          <a:solidFill>
            <a:srgbClr val="F4EFE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60120" y="246888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C4A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TITRES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960120" y="27432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305C4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Lora</a:t>
            </a:r>
            <a:endParaRPr lang="en-US" sz="4200" dirty="0"/>
          </a:p>
        </p:txBody>
      </p:sp>
      <p:sp>
        <p:nvSpPr>
          <p:cNvPr id="12" name="Text 9"/>
          <p:cNvSpPr txBox="1"/>
          <p:nvPr/>
        </p:nvSpPr>
        <p:spPr>
          <a:xfrm>
            <a:off x="960120" y="3611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Serif chaleureuse et posée : l’autorité, sans froideur.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60120" y="41605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A2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ABCDEFGHIJKLM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2A2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abcdefghijklm 0123456789 é è à ç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60120" y="493776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Graisses : 600 · 700 · italique 500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960120" y="53035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7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font-family: 'Lora', Georgia, serif;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199632" y="2240280"/>
            <a:ext cx="5349240" cy="3931920"/>
          </a:xfrm>
          <a:prstGeom prst="roundRect">
            <a:avLst>
              <a:gd name="adj" fmla="val 3256"/>
            </a:avLst>
          </a:prstGeom>
          <a:solidFill>
            <a:srgbClr val="F4EFE6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519672" y="246888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C4A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TEXTE COURANT, BOUTONS, FORMULAIRES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6519672" y="27432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305C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Poppins</a:t>
            </a:r>
            <a:endParaRPr lang="en-US" sz="4200" dirty="0"/>
          </a:p>
        </p:txBody>
      </p:sp>
      <p:sp>
        <p:nvSpPr>
          <p:cNvPr id="19" name="Text 16"/>
          <p:cNvSpPr txBox="1"/>
          <p:nvPr/>
        </p:nvSpPr>
        <p:spPr>
          <a:xfrm>
            <a:off x="6519672" y="3611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Sans-serif géométrique, très lisible sur petits écrans.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519672" y="41605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ABCDEFGHIJKLM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abcdefghijklm 0123456789 é è à ç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519672" y="493776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Graisses : 400 · 500 · 600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6519672" y="53035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7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font-family: 'Poppins', 'Segoe UI', Arial, sans-serif;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C4A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 — TYPOGRAPHIE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05C4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Échelle typographique pour le web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Tailles en pixels. La colonne mobile s’applique sous 768 px de large.</a:t>
            </a:r>
            <a:endParaRPr lang="en-US" sz="1200" dirty="0"/>
          </a:p>
        </p:txBody>
      </p:sp>
      <p:pic>
        <p:nvPicPr>
          <p:cNvPr id="5" name="Image 0" descr="/home/claude/assets/logo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411480"/>
            <a:ext cx="822960" cy="57938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6400800"/>
            <a:ext cx="10908792" cy="10973"/>
          </a:xfrm>
          <a:prstGeom prst="rect">
            <a:avLst/>
          </a:prstGeom>
          <a:solidFill>
            <a:srgbClr val="EAE1D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TERRA-LINK  ·  Charte graphique v2.0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634472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08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920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4A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NIVEAU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2103120" y="1920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4A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SPÉCIMEN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6766560" y="1920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4A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DESKTOP / MOBILE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8595360" y="1920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4A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GRAISSE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0241280" y="1920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4A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INTERLIGNE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0080" y="2697480"/>
            <a:ext cx="10908792" cy="9144"/>
          </a:xfrm>
          <a:prstGeom prst="rect">
            <a:avLst/>
          </a:prstGeom>
          <a:solidFill>
            <a:srgbClr val="EAE1D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40080" y="224028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H1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2103120" y="224028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05C4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Votre exploitation avance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6766560" y="22402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56 / 40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8595360" y="22402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700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10241280" y="22402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1,1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40080" y="3191256"/>
            <a:ext cx="10908792" cy="9144"/>
          </a:xfrm>
          <a:prstGeom prst="rect">
            <a:avLst/>
          </a:prstGeom>
          <a:solidFill>
            <a:srgbClr val="EAE1D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40080" y="27340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2103120" y="2734056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05C4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Comment ça marche ?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6766560" y="273405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40 / 30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8595360" y="273405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700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10241280" y="273405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1,15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40080" y="3685032"/>
            <a:ext cx="10908792" cy="9144"/>
          </a:xfrm>
          <a:prstGeom prst="rect">
            <a:avLst/>
          </a:prstGeom>
          <a:solidFill>
            <a:srgbClr val="EAE1D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40080" y="32278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H3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2103120" y="3227832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05C4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Visites de terrain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6766560" y="322783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28 / 22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8595360" y="322783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600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10241280" y="322783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1,25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640080" y="4178808"/>
            <a:ext cx="10908792" cy="9144"/>
          </a:xfrm>
          <a:prstGeom prst="rect">
            <a:avLst/>
          </a:prstGeom>
          <a:solidFill>
            <a:srgbClr val="EAE1D2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40080" y="372160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H4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2103120" y="3721608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05C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Rapport de suivi mensuel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6766560" y="372160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 / 18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8595360" y="372160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600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10241280" y="372160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1,3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640080" y="4672584"/>
            <a:ext cx="10908792" cy="9144"/>
          </a:xfrm>
          <a:prstGeom prst="rect">
            <a:avLst/>
          </a:prstGeom>
          <a:solidFill>
            <a:srgbClr val="EAE1D2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640080" y="421538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Corps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2103120" y="4215384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05C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suivi documenté du terrain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6766560" y="421538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 / 16</a:t>
            </a:r>
            <a:endParaRPr lang="en-US" sz="1050" dirty="0"/>
          </a:p>
        </p:txBody>
      </p:sp>
      <p:sp>
        <p:nvSpPr>
          <p:cNvPr id="42" name="Text 39"/>
          <p:cNvSpPr txBox="1"/>
          <p:nvPr/>
        </p:nvSpPr>
        <p:spPr>
          <a:xfrm>
            <a:off x="8595360" y="421538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400</a:t>
            </a:r>
            <a:endParaRPr lang="en-US" sz="1050" dirty="0"/>
          </a:p>
        </p:txBody>
      </p:sp>
      <p:sp>
        <p:nvSpPr>
          <p:cNvPr id="43" name="Text 40"/>
          <p:cNvSpPr txBox="1"/>
          <p:nvPr/>
        </p:nvSpPr>
        <p:spPr>
          <a:xfrm>
            <a:off x="10241280" y="421538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1,65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640080" y="5166360"/>
            <a:ext cx="10908792" cy="9144"/>
          </a:xfrm>
          <a:prstGeom prst="rect">
            <a:avLst/>
          </a:prstGeom>
          <a:solidFill>
            <a:srgbClr val="EAE1D2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640080" y="470916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Petit texte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2103120" y="470916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05C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Photos et données localisées</a:t>
            </a:r>
            <a:endParaRPr lang="en-US" sz="1050" dirty="0"/>
          </a:p>
        </p:txBody>
      </p:sp>
      <p:sp>
        <p:nvSpPr>
          <p:cNvPr id="47" name="Text 44"/>
          <p:cNvSpPr txBox="1"/>
          <p:nvPr/>
        </p:nvSpPr>
        <p:spPr>
          <a:xfrm>
            <a:off x="6766560" y="470916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 / 14</a:t>
            </a:r>
            <a:endParaRPr lang="en-US" sz="1050" dirty="0"/>
          </a:p>
        </p:txBody>
      </p:sp>
      <p:sp>
        <p:nvSpPr>
          <p:cNvPr id="48" name="Text 45"/>
          <p:cNvSpPr txBox="1"/>
          <p:nvPr/>
        </p:nvSpPr>
        <p:spPr>
          <a:xfrm>
            <a:off x="8595360" y="470916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400</a:t>
            </a:r>
            <a:endParaRPr lang="en-US" sz="1050" dirty="0"/>
          </a:p>
        </p:txBody>
      </p:sp>
      <p:sp>
        <p:nvSpPr>
          <p:cNvPr id="49" name="Text 46"/>
          <p:cNvSpPr txBox="1"/>
          <p:nvPr/>
        </p:nvSpPr>
        <p:spPr>
          <a:xfrm>
            <a:off x="10241280" y="470916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1,6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640080" y="5660136"/>
            <a:ext cx="10908792" cy="9144"/>
          </a:xfrm>
          <a:prstGeom prst="rect">
            <a:avLst/>
          </a:prstGeom>
          <a:solidFill>
            <a:srgbClr val="EAE1D2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640080" y="520293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Étiquette</a:t>
            </a: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2103120" y="5202936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C4A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ÉTAPE 01</a:t>
            </a:r>
            <a:endParaRPr lang="en-US" sz="950" dirty="0"/>
          </a:p>
        </p:txBody>
      </p:sp>
      <p:sp>
        <p:nvSpPr>
          <p:cNvPr id="53" name="Text 50"/>
          <p:cNvSpPr txBox="1"/>
          <p:nvPr/>
        </p:nvSpPr>
        <p:spPr>
          <a:xfrm>
            <a:off x="6766560" y="520293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 / 12</a:t>
            </a:r>
            <a:endParaRPr lang="en-US" sz="1050" dirty="0"/>
          </a:p>
        </p:txBody>
      </p:sp>
      <p:sp>
        <p:nvSpPr>
          <p:cNvPr id="54" name="Text 51"/>
          <p:cNvSpPr txBox="1"/>
          <p:nvPr/>
        </p:nvSpPr>
        <p:spPr>
          <a:xfrm>
            <a:off x="8595360" y="520293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600 · MAJ.</a:t>
            </a:r>
            <a:endParaRPr lang="en-US" sz="1050" dirty="0"/>
          </a:p>
        </p:txBody>
      </p:sp>
      <p:sp>
        <p:nvSpPr>
          <p:cNvPr id="55" name="Text 52"/>
          <p:cNvSpPr txBox="1"/>
          <p:nvPr/>
        </p:nvSpPr>
        <p:spPr>
          <a:xfrm>
            <a:off x="10241280" y="520293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1,4</a:t>
            </a:r>
            <a:endParaRPr lang="en-US" sz="1050" dirty="0"/>
          </a:p>
        </p:txBody>
      </p:sp>
      <p:sp>
        <p:nvSpPr>
          <p:cNvPr id="56" name="Shape 53"/>
          <p:cNvSpPr/>
          <p:nvPr/>
        </p:nvSpPr>
        <p:spPr>
          <a:xfrm>
            <a:off x="640080" y="6153912"/>
            <a:ext cx="10908792" cy="9144"/>
          </a:xfrm>
          <a:prstGeom prst="rect">
            <a:avLst/>
          </a:prstGeom>
          <a:solidFill>
            <a:srgbClr val="EAE1D2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640080" y="569671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Bouton</a:t>
            </a:r>
            <a:endParaRPr lang="en-US" sz="1100" dirty="0"/>
          </a:p>
        </p:txBody>
      </p:sp>
      <p:sp>
        <p:nvSpPr>
          <p:cNvPr id="58" name="Text 55"/>
          <p:cNvSpPr txBox="1"/>
          <p:nvPr/>
        </p:nvSpPr>
        <p:spPr>
          <a:xfrm>
            <a:off x="2103120" y="5696712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05C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Demander un diagnostic</a:t>
            </a:r>
            <a:endParaRPr lang="en-US" sz="1150" dirty="0"/>
          </a:p>
        </p:txBody>
      </p:sp>
      <p:sp>
        <p:nvSpPr>
          <p:cNvPr id="59" name="Text 56"/>
          <p:cNvSpPr txBox="1"/>
          <p:nvPr/>
        </p:nvSpPr>
        <p:spPr>
          <a:xfrm>
            <a:off x="6766560" y="569671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 / 16</a:t>
            </a:r>
            <a:endParaRPr lang="en-US" sz="1050" dirty="0"/>
          </a:p>
        </p:txBody>
      </p:sp>
      <p:sp>
        <p:nvSpPr>
          <p:cNvPr id="60" name="Text 57"/>
          <p:cNvSpPr txBox="1"/>
          <p:nvPr/>
        </p:nvSpPr>
        <p:spPr>
          <a:xfrm>
            <a:off x="8595360" y="569671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600</a:t>
            </a:r>
            <a:endParaRPr lang="en-US" sz="1050" dirty="0"/>
          </a:p>
        </p:txBody>
      </p:sp>
      <p:sp>
        <p:nvSpPr>
          <p:cNvPr id="61" name="Text 58"/>
          <p:cNvSpPr txBox="1"/>
          <p:nvPr/>
        </p:nvSpPr>
        <p:spPr>
          <a:xfrm>
            <a:off x="10241280" y="569671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C4A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 — MISE EN PAGE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05C4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Grille, espacements et formes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système de valeurs fixes : le développeur n’a jamais à « deviner » une marge.</a:t>
            </a:r>
            <a:endParaRPr lang="en-US" sz="1200" dirty="0"/>
          </a:p>
        </p:txBody>
      </p:sp>
      <p:pic>
        <p:nvPicPr>
          <p:cNvPr id="5" name="Image 0" descr="/home/claude/assets/logo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411480"/>
            <a:ext cx="822960" cy="57938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6400800"/>
            <a:ext cx="10908792" cy="10973"/>
          </a:xfrm>
          <a:prstGeom prst="rect">
            <a:avLst/>
          </a:prstGeom>
          <a:solidFill>
            <a:srgbClr val="EAE1D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TERRA-LINK  ·  Charte graphique v2.0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634472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09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" y="2011680"/>
            <a:ext cx="3474720" cy="4114800"/>
          </a:xfrm>
          <a:prstGeom prst="roundRect">
            <a:avLst>
              <a:gd name="adj" fmla="val 3684"/>
            </a:avLst>
          </a:prstGeom>
          <a:solidFill>
            <a:srgbClr val="F4EFE6"/>
          </a:solidFill>
          <a:ln/>
        </p:spPr>
      </p:sp>
      <p:sp>
        <p:nvSpPr>
          <p:cNvPr id="10" name="Shape 7"/>
          <p:cNvSpPr/>
          <p:nvPr/>
        </p:nvSpPr>
        <p:spPr>
          <a:xfrm>
            <a:off x="4361688" y="2011680"/>
            <a:ext cx="3474720" cy="4114800"/>
          </a:xfrm>
          <a:prstGeom prst="roundRect">
            <a:avLst>
              <a:gd name="adj" fmla="val 3684"/>
            </a:avLst>
          </a:prstGeom>
          <a:solidFill>
            <a:srgbClr val="F4EFE6"/>
          </a:solidFill>
          <a:ln/>
        </p:spPr>
      </p:sp>
      <p:sp>
        <p:nvSpPr>
          <p:cNvPr id="11" name="Shape 8"/>
          <p:cNvSpPr/>
          <p:nvPr/>
        </p:nvSpPr>
        <p:spPr>
          <a:xfrm>
            <a:off x="8083296" y="2011680"/>
            <a:ext cx="3474720" cy="4114800"/>
          </a:xfrm>
          <a:prstGeom prst="roundRect">
            <a:avLst>
              <a:gd name="adj" fmla="val 3684"/>
            </a:avLst>
          </a:prstGeom>
          <a:solidFill>
            <a:srgbClr val="F4EFE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68680" y="2194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05C4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Grille &amp; breakpoints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2606040"/>
            <a:ext cx="3063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Conteneur : 1 200 px max., centré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 colonnes (desktop), 8 (tablette), 4 (mobile)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Gouttière : 24 px (16 px sur mobile)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Marges latérales : 20 px mobile, 32 px tablette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Breakpoints : 480 · 768 · 1024 · 1280 px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Approche mobile-first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590288" y="2194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05C4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Échelle d’espacement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590288" y="26517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px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303520" y="2679192"/>
            <a:ext cx="95098" cy="182880"/>
          </a:xfrm>
          <a:prstGeom prst="rect">
            <a:avLst/>
          </a:prstGeom>
          <a:solidFill>
            <a:srgbClr val="305C4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590288" y="299923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px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303520" y="3026664"/>
            <a:ext cx="190195" cy="182880"/>
          </a:xfrm>
          <a:prstGeom prst="rect">
            <a:avLst/>
          </a:prstGeom>
          <a:solidFill>
            <a:srgbClr val="305C4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590288" y="334670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 px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303520" y="3374136"/>
            <a:ext cx="285293" cy="182880"/>
          </a:xfrm>
          <a:prstGeom prst="rect">
            <a:avLst/>
          </a:prstGeom>
          <a:solidFill>
            <a:srgbClr val="305C4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590288" y="369417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 px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303520" y="3721608"/>
            <a:ext cx="380390" cy="182880"/>
          </a:xfrm>
          <a:prstGeom prst="rect">
            <a:avLst/>
          </a:prstGeom>
          <a:solidFill>
            <a:srgbClr val="305C41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590288" y="404164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24 px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303520" y="4069080"/>
            <a:ext cx="570586" cy="182880"/>
          </a:xfrm>
          <a:prstGeom prst="rect">
            <a:avLst/>
          </a:prstGeom>
          <a:solidFill>
            <a:srgbClr val="305C41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4590288" y="438912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32 px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303520" y="4416552"/>
            <a:ext cx="760781" cy="182880"/>
          </a:xfrm>
          <a:prstGeom prst="rect">
            <a:avLst/>
          </a:prstGeom>
          <a:solidFill>
            <a:srgbClr val="305C41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4590288" y="473659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48 px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5303520" y="4764024"/>
            <a:ext cx="1141171" cy="182880"/>
          </a:xfrm>
          <a:prstGeom prst="rect">
            <a:avLst/>
          </a:prstGeom>
          <a:solidFill>
            <a:srgbClr val="305C41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4590288" y="508406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64 px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5303520" y="5111496"/>
            <a:ext cx="1521562" cy="182880"/>
          </a:xfrm>
          <a:prstGeom prst="rect">
            <a:avLst/>
          </a:prstGeom>
          <a:solidFill>
            <a:srgbClr val="305C41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4590288" y="543153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96 px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5303520" y="5458968"/>
            <a:ext cx="2282342" cy="182880"/>
          </a:xfrm>
          <a:prstGeom prst="rect">
            <a:avLst/>
          </a:prstGeom>
          <a:solidFill>
            <a:srgbClr val="305C41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311896" y="2194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05C4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Rayons &amp; ombres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8311896" y="2697480"/>
            <a:ext cx="10058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8CFC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509760" y="2697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px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9509760" y="293522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Boutons, champs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8311896" y="3474720"/>
            <a:ext cx="1005840" cy="502920"/>
          </a:xfrm>
          <a:prstGeom prst="roundRect">
            <a:avLst>
              <a:gd name="adj" fmla="val 29091"/>
            </a:avLst>
          </a:prstGeom>
          <a:solidFill>
            <a:srgbClr val="FFFFFF"/>
          </a:solidFill>
          <a:ln w="12700">
            <a:solidFill>
              <a:srgbClr val="D8CFC0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509760" y="3474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 px</a:t>
            </a:r>
            <a:endParaRPr lang="en-US" sz="1050" dirty="0"/>
          </a:p>
        </p:txBody>
      </p:sp>
      <p:sp>
        <p:nvSpPr>
          <p:cNvPr id="39" name="Text 36"/>
          <p:cNvSpPr txBox="1"/>
          <p:nvPr/>
        </p:nvSpPr>
        <p:spPr>
          <a:xfrm>
            <a:off x="9509760" y="371246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Cartes, visuels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8311896" y="4251960"/>
            <a:ext cx="10058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CFC0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9509760" y="4251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Pilule</a:t>
            </a:r>
            <a:endParaRPr lang="en-US" sz="1050" dirty="0"/>
          </a:p>
        </p:txBody>
      </p:sp>
      <p:sp>
        <p:nvSpPr>
          <p:cNvPr id="42" name="Text 39"/>
          <p:cNvSpPr txBox="1"/>
          <p:nvPr/>
        </p:nvSpPr>
        <p:spPr>
          <a:xfrm>
            <a:off x="9509760" y="44897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Étiquettes, badges</a:t>
            </a:r>
            <a:endParaRPr lang="en-US" sz="950" dirty="0"/>
          </a:p>
        </p:txBody>
      </p:sp>
      <p:sp>
        <p:nvSpPr>
          <p:cNvPr id="43" name="Text 40"/>
          <p:cNvSpPr txBox="1"/>
          <p:nvPr/>
        </p:nvSpPr>
        <p:spPr>
          <a:xfrm>
            <a:off x="8311896" y="50749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Ombres (douces, jamais noires)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 : 0 1px 3px rgba(43,42,40,.08)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md : 0 8px 24px rgba(43,42,40,.12)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C4A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 — COMPOSANTS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05C4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Boutons et formulaires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 composants qui reviennent sur toutes les pages. Hauteur de 48 px pour tous les éléments interactifs.</a:t>
            </a:r>
            <a:endParaRPr lang="en-US" sz="1200" dirty="0"/>
          </a:p>
        </p:txBody>
      </p:sp>
      <p:pic>
        <p:nvPicPr>
          <p:cNvPr id="5" name="Image 0" descr="/home/claude/assets/logo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411480"/>
            <a:ext cx="822960" cy="57938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6400800"/>
            <a:ext cx="10908792" cy="10973"/>
          </a:xfrm>
          <a:prstGeom prst="rect">
            <a:avLst/>
          </a:prstGeom>
          <a:solidFill>
            <a:srgbClr val="EAE1D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TERRA-LINK  ·  Charte graphique v2.0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634472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" y="2057400"/>
            <a:ext cx="2834640" cy="502920"/>
          </a:xfrm>
          <a:prstGeom prst="roundRect">
            <a:avLst>
              <a:gd name="adj" fmla="val 14545"/>
            </a:avLst>
          </a:prstGeom>
          <a:solidFill>
            <a:srgbClr val="B65F2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20574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Demander un diagnostic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26517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Principal — fond #B65F2E · survol #8C4A22 · une seule fois par écran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40080" y="3154680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25400">
            <a:solidFill>
              <a:srgbClr val="305C4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31546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05C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Découvrir comment ça marche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37490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Secondaire — contour Vert Forêt 2 px · survol fond Vert clair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40080" y="4251960"/>
            <a:ext cx="2651760" cy="502920"/>
          </a:xfrm>
          <a:prstGeom prst="roundRect">
            <a:avLst>
              <a:gd name="adj" fmla="val 14545"/>
            </a:avLst>
          </a:prstGeom>
          <a:solidFill>
            <a:srgbClr val="305C4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0080" y="42519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Écrire sur WhatsApp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48463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Contact direct — fond Vert Forêt · présent sur les pages principales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6309360" y="20116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Adresse e-mail  ·  Normal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309360" y="2286000"/>
            <a:ext cx="5239512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8CFC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92240" y="22860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name@exemple.com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309360" y="310896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Adresse e-mail  ·  Sélectionné (focus)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309360" y="3383280"/>
            <a:ext cx="5239512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31750">
            <a:solidFill>
              <a:srgbClr val="305C4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92240" y="33832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diaspora@exemple.com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6309360" y="420624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Adresse e-mail  ·  Erreur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309360" y="4480560"/>
            <a:ext cx="5239512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25400">
            <a:solidFill>
              <a:srgbClr val="8C4A2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92240" y="44805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diaspora@exemple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6309360" y="502920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8C4A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Adresse e-mail incomplète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40080" y="5440680"/>
            <a:ext cx="10908792" cy="731520"/>
          </a:xfrm>
          <a:prstGeom prst="roundRect">
            <a:avLst>
              <a:gd name="adj" fmla="val 15000"/>
            </a:avLst>
          </a:prstGeom>
          <a:solidFill>
            <a:srgbClr val="EAE1D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68680" y="544068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Règles : cibles tactiles ≥ 44 px  ·  texte des champs 16 px minimum (évite le zoom sur iPhone)  ·  focus clavier toujours visible : contour Or 3 px  ·  libellé au-dessus du champ, jamais seulement en placeholder.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C4A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 — IMAGES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05C4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Icônes et photographie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 pictogrammes simples, à traits pleins, d’une seule couleur de la palette. Des photos réelles, du terrain.</a:t>
            </a:r>
            <a:endParaRPr lang="en-US" sz="1200" dirty="0"/>
          </a:p>
        </p:txBody>
      </p:sp>
      <p:pic>
        <p:nvPicPr>
          <p:cNvPr id="5" name="Image 0" descr="/home/claude/assets/logo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411480"/>
            <a:ext cx="822960" cy="57938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6400800"/>
            <a:ext cx="10908792" cy="10973"/>
          </a:xfrm>
          <a:prstGeom prst="rect">
            <a:avLst/>
          </a:prstGeom>
          <a:solidFill>
            <a:srgbClr val="EAE1D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TERRA-LINK  ·  Charte graphique v2.0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634472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" y="2011680"/>
            <a:ext cx="1243584" cy="1280160"/>
          </a:xfrm>
          <a:prstGeom prst="roundRect">
            <a:avLst>
              <a:gd name="adj" fmla="val 8824"/>
            </a:avLst>
          </a:prstGeom>
          <a:solidFill>
            <a:srgbClr val="E3ECE5"/>
          </a:solidFill>
          <a:ln/>
        </p:spPr>
      </p:sp>
      <p:pic>
        <p:nvPicPr>
          <p:cNvPr id="10" name="Image 1" descr="/home/claude/src/x/ppt/media/image-7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219456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0080" y="2852928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Agriculture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2020824" y="2011680"/>
            <a:ext cx="1243584" cy="1280160"/>
          </a:xfrm>
          <a:prstGeom prst="roundRect">
            <a:avLst>
              <a:gd name="adj" fmla="val 8824"/>
            </a:avLst>
          </a:prstGeom>
          <a:solidFill>
            <a:srgbClr val="F5E3D6"/>
          </a:solidFill>
          <a:ln/>
        </p:spPr>
      </p:sp>
      <p:pic>
        <p:nvPicPr>
          <p:cNvPr id="13" name="Image 2" descr="/home/claude/src/x/ppt/media/image-7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8296" y="219456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020824" y="2852928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Suivi terrain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3401568" y="2011680"/>
            <a:ext cx="1243584" cy="1280160"/>
          </a:xfrm>
          <a:prstGeom prst="roundRect">
            <a:avLst>
              <a:gd name="adj" fmla="val 8824"/>
            </a:avLst>
          </a:prstGeom>
          <a:solidFill>
            <a:srgbClr val="E3ECE5"/>
          </a:solidFill>
          <a:ln/>
        </p:spPr>
      </p:sp>
      <p:pic>
        <p:nvPicPr>
          <p:cNvPr id="16" name="Image 3" descr="/home/claude/src/x/ppt/media/image-7-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2194560"/>
            <a:ext cx="548640" cy="5486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401568" y="2852928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Sécurisation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4782312" y="2011680"/>
            <a:ext cx="1243584" cy="1280160"/>
          </a:xfrm>
          <a:prstGeom prst="roundRect">
            <a:avLst>
              <a:gd name="adj" fmla="val 8824"/>
            </a:avLst>
          </a:prstGeom>
          <a:solidFill>
            <a:srgbClr val="F5E3D6"/>
          </a:solidFill>
          <a:ln/>
        </p:spPr>
      </p:sp>
      <p:pic>
        <p:nvPicPr>
          <p:cNvPr id="19" name="Image 4" descr="/home/claude/src/x/ppt/media/image-7-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9784" y="2194560"/>
            <a:ext cx="548640" cy="54864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4782312" y="2852928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Pilotage</a:t>
            </a:r>
            <a:endParaRPr lang="en-US" sz="950" dirty="0"/>
          </a:p>
        </p:txBody>
      </p:sp>
      <p:sp>
        <p:nvSpPr>
          <p:cNvPr id="21" name="Shape 14"/>
          <p:cNvSpPr/>
          <p:nvPr/>
        </p:nvSpPr>
        <p:spPr>
          <a:xfrm>
            <a:off x="6163056" y="2011680"/>
            <a:ext cx="1243584" cy="1280160"/>
          </a:xfrm>
          <a:prstGeom prst="roundRect">
            <a:avLst>
              <a:gd name="adj" fmla="val 8824"/>
            </a:avLst>
          </a:prstGeom>
          <a:solidFill>
            <a:srgbClr val="E3ECE5"/>
          </a:solidFill>
          <a:ln/>
        </p:spPr>
      </p:sp>
      <p:pic>
        <p:nvPicPr>
          <p:cNvPr id="22" name="Image 5" descr="/home/claude/src/x/ppt/media/image-7-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0528" y="2194560"/>
            <a:ext cx="548640" cy="54864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163056" y="2852928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Plateforme</a:t>
            </a:r>
            <a:endParaRPr lang="en-US" sz="950" dirty="0"/>
          </a:p>
        </p:txBody>
      </p:sp>
      <p:sp>
        <p:nvSpPr>
          <p:cNvPr id="24" name="Shape 16"/>
          <p:cNvSpPr/>
          <p:nvPr/>
        </p:nvSpPr>
        <p:spPr>
          <a:xfrm>
            <a:off x="7543800" y="2011680"/>
            <a:ext cx="1243584" cy="1280160"/>
          </a:xfrm>
          <a:prstGeom prst="roundRect">
            <a:avLst>
              <a:gd name="adj" fmla="val 8824"/>
            </a:avLst>
          </a:prstGeom>
          <a:solidFill>
            <a:srgbClr val="E3ECE5"/>
          </a:solidFill>
          <a:ln/>
        </p:spPr>
      </p:sp>
      <p:pic>
        <p:nvPicPr>
          <p:cNvPr id="25" name="Image 6" descr="/home/claude/src/x/ppt/media/image-7-6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1272" y="2194560"/>
            <a:ext cx="548640" cy="548640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7543800" y="2852928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Confiance</a:t>
            </a:r>
            <a:endParaRPr lang="en-US" sz="950" dirty="0"/>
          </a:p>
        </p:txBody>
      </p:sp>
      <p:sp>
        <p:nvSpPr>
          <p:cNvPr id="27" name="Shape 18"/>
          <p:cNvSpPr/>
          <p:nvPr/>
        </p:nvSpPr>
        <p:spPr>
          <a:xfrm>
            <a:off x="8924544" y="2011680"/>
            <a:ext cx="1243584" cy="1280160"/>
          </a:xfrm>
          <a:prstGeom prst="roundRect">
            <a:avLst>
              <a:gd name="adj" fmla="val 8824"/>
            </a:avLst>
          </a:prstGeom>
          <a:solidFill>
            <a:srgbClr val="F5E3D6"/>
          </a:solidFill>
          <a:ln/>
        </p:spPr>
      </p:sp>
      <p:pic>
        <p:nvPicPr>
          <p:cNvPr id="28" name="Image 7" descr="/home/claude/src/x/ppt/media/image-7-7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72016" y="2194560"/>
            <a:ext cx="548640" cy="548640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8924544" y="2852928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Investisseurs</a:t>
            </a:r>
            <a:endParaRPr lang="en-US" sz="950" dirty="0"/>
          </a:p>
        </p:txBody>
      </p:sp>
      <p:sp>
        <p:nvSpPr>
          <p:cNvPr id="30" name="Shape 20"/>
          <p:cNvSpPr/>
          <p:nvPr/>
        </p:nvSpPr>
        <p:spPr>
          <a:xfrm>
            <a:off x="10305288" y="2011680"/>
            <a:ext cx="1243584" cy="1280160"/>
          </a:xfrm>
          <a:prstGeom prst="roundRect">
            <a:avLst>
              <a:gd name="adj" fmla="val 8824"/>
            </a:avLst>
          </a:prstGeom>
          <a:solidFill>
            <a:srgbClr val="F5E3D6"/>
          </a:solidFill>
          <a:ln/>
        </p:spPr>
      </p:sp>
      <p:pic>
        <p:nvPicPr>
          <p:cNvPr id="31" name="Image 8" descr="/home/claude/src/x/ppt/media/image-7-8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52760" y="2194560"/>
            <a:ext cx="548640" cy="548640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10305288" y="2852928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Reporting photo</a:t>
            </a:r>
            <a:endParaRPr lang="en-US" sz="950" dirty="0"/>
          </a:p>
        </p:txBody>
      </p:sp>
      <p:sp>
        <p:nvSpPr>
          <p:cNvPr id="33" name="Text 22"/>
          <p:cNvSpPr txBox="1"/>
          <p:nvPr/>
        </p:nvSpPr>
        <p:spPr>
          <a:xfrm>
            <a:off x="640080" y="36118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C4A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ICÔNES</a:t>
            </a:r>
            <a:endParaRPr lang="en-US" sz="950" dirty="0"/>
          </a:p>
        </p:txBody>
      </p:sp>
      <p:sp>
        <p:nvSpPr>
          <p:cNvPr id="34" name="Text 23"/>
          <p:cNvSpPr txBox="1"/>
          <p:nvPr/>
        </p:nvSpPr>
        <p:spPr>
          <a:xfrm>
            <a:off x="640080" y="393192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Traits pleins, coins arrondis, grille de 24 px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Une seule couleur : Vert Forêt ou Terracotta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Tailles : 24, 32, 48 px — en SVG, jamais en PNG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Jamais de dégradé ni de multicolore</a:t>
            </a:r>
            <a:endParaRPr lang="en-US" sz="1050" dirty="0"/>
          </a:p>
        </p:txBody>
      </p:sp>
      <p:sp>
        <p:nvSpPr>
          <p:cNvPr id="35" name="Text 24"/>
          <p:cNvSpPr txBox="1"/>
          <p:nvPr/>
        </p:nvSpPr>
        <p:spPr>
          <a:xfrm>
            <a:off x="4754880" y="36118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C4A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PHOTOGRAPHIE</a:t>
            </a:r>
            <a:endParaRPr lang="en-US" sz="950" dirty="0"/>
          </a:p>
        </p:txBody>
      </p:sp>
      <p:sp>
        <p:nvSpPr>
          <p:cNvPr id="36" name="Shape 25"/>
          <p:cNvSpPr/>
          <p:nvPr/>
        </p:nvSpPr>
        <p:spPr>
          <a:xfrm>
            <a:off x="4754880" y="3931920"/>
            <a:ext cx="2377440" cy="1335024"/>
          </a:xfrm>
          <a:prstGeom prst="rect">
            <a:avLst/>
          </a:prstGeom>
          <a:solidFill>
            <a:srgbClr val="EAE1D2"/>
          </a:solidFill>
          <a:ln/>
        </p:spPr>
      </p:sp>
      <p:sp>
        <p:nvSpPr>
          <p:cNvPr id="37" name="Shape 26"/>
          <p:cNvSpPr/>
          <p:nvPr/>
        </p:nvSpPr>
        <p:spPr>
          <a:xfrm>
            <a:off x="4754880" y="3931920"/>
            <a:ext cx="2377440" cy="1335024"/>
          </a:xfrm>
          <a:prstGeom prst="rect">
            <a:avLst/>
          </a:prstGeom>
          <a:ln w="9525">
            <a:solidFill>
              <a:srgbClr val="6B675F"/>
            </a:solidFill>
            <a:prstDash val="dash"/>
          </a:ln>
        </p:spPr>
      </p:sp>
      <p:sp>
        <p:nvSpPr>
          <p:cNvPr id="38" name="Text 27"/>
          <p:cNvSpPr txBox="1"/>
          <p:nvPr/>
        </p:nvSpPr>
        <p:spPr>
          <a:xfrm>
            <a:off x="4754880" y="3931920"/>
            <a:ext cx="237744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Hero 16:9</a:t>
            </a:r>
            <a:endParaRPr lang="en-US" sz="950" dirty="0"/>
          </a:p>
        </p:txBody>
      </p:sp>
      <p:sp>
        <p:nvSpPr>
          <p:cNvPr id="39" name="Shape 28"/>
          <p:cNvSpPr/>
          <p:nvPr/>
        </p:nvSpPr>
        <p:spPr>
          <a:xfrm>
            <a:off x="7315200" y="3931920"/>
            <a:ext cx="1783080" cy="1335024"/>
          </a:xfrm>
          <a:prstGeom prst="rect">
            <a:avLst/>
          </a:prstGeom>
          <a:solidFill>
            <a:srgbClr val="EAE1D2"/>
          </a:solidFill>
          <a:ln/>
        </p:spPr>
      </p:sp>
      <p:sp>
        <p:nvSpPr>
          <p:cNvPr id="40" name="Shape 29"/>
          <p:cNvSpPr/>
          <p:nvPr/>
        </p:nvSpPr>
        <p:spPr>
          <a:xfrm>
            <a:off x="7315200" y="3931920"/>
            <a:ext cx="1783080" cy="1335024"/>
          </a:xfrm>
          <a:prstGeom prst="rect">
            <a:avLst/>
          </a:prstGeom>
          <a:ln w="9525">
            <a:solidFill>
              <a:srgbClr val="6B675F"/>
            </a:solidFill>
            <a:prstDash val="dash"/>
          </a:ln>
        </p:spPr>
      </p:sp>
      <p:sp>
        <p:nvSpPr>
          <p:cNvPr id="41" name="Text 30"/>
          <p:cNvSpPr txBox="1"/>
          <p:nvPr/>
        </p:nvSpPr>
        <p:spPr>
          <a:xfrm>
            <a:off x="7315200" y="3931920"/>
            <a:ext cx="17830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Carte 4:3</a:t>
            </a:r>
            <a:endParaRPr lang="en-US" sz="950" dirty="0"/>
          </a:p>
        </p:txBody>
      </p:sp>
      <p:sp>
        <p:nvSpPr>
          <p:cNvPr id="42" name="Shape 31"/>
          <p:cNvSpPr/>
          <p:nvPr/>
        </p:nvSpPr>
        <p:spPr>
          <a:xfrm>
            <a:off x="9281160" y="3931920"/>
            <a:ext cx="1335024" cy="1335024"/>
          </a:xfrm>
          <a:prstGeom prst="rect">
            <a:avLst/>
          </a:prstGeom>
          <a:solidFill>
            <a:srgbClr val="EAE1D2"/>
          </a:solidFill>
          <a:ln/>
        </p:spPr>
      </p:sp>
      <p:sp>
        <p:nvSpPr>
          <p:cNvPr id="43" name="Shape 32"/>
          <p:cNvSpPr/>
          <p:nvPr/>
        </p:nvSpPr>
        <p:spPr>
          <a:xfrm>
            <a:off x="9281160" y="3931920"/>
            <a:ext cx="1335024" cy="1335024"/>
          </a:xfrm>
          <a:prstGeom prst="rect">
            <a:avLst/>
          </a:prstGeom>
          <a:ln w="9525">
            <a:solidFill>
              <a:srgbClr val="6B675F"/>
            </a:solidFill>
            <a:prstDash val="dash"/>
          </a:ln>
        </p:spPr>
      </p:sp>
      <p:sp>
        <p:nvSpPr>
          <p:cNvPr id="44" name="Text 33"/>
          <p:cNvSpPr txBox="1"/>
          <p:nvPr/>
        </p:nvSpPr>
        <p:spPr>
          <a:xfrm>
            <a:off x="9281160" y="3931920"/>
            <a:ext cx="133502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Portrait 1:1</a:t>
            </a:r>
            <a:endParaRPr lang="en-US" sz="950" dirty="0"/>
          </a:p>
        </p:txBody>
      </p:sp>
      <p:sp>
        <p:nvSpPr>
          <p:cNvPr id="45" name="Text 34"/>
          <p:cNvSpPr txBox="1"/>
          <p:nvPr/>
        </p:nvSpPr>
        <p:spPr>
          <a:xfrm>
            <a:off x="4754880" y="54406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Images réelles de terrain (cultures, élevage, visites), lumière naturelle, personnes réelles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Jamais de banque d’images générique ni de photos de bureau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Voile Vert profond 40 % sous tout texte posé sur une photo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WebP, 200 Ko maximum, attribut alt toujours renseigné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C4A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08 — APPLICATION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05C4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Exemple : la page d’accueil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Maquette d’intention : elle montre comment couleurs, typographies et composants s’assemblent.</a:t>
            </a:r>
            <a:endParaRPr lang="en-US" sz="1200" dirty="0"/>
          </a:p>
        </p:txBody>
      </p:sp>
      <p:pic>
        <p:nvPicPr>
          <p:cNvPr id="5" name="Image 0" descr="/home/claude/assets/logo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411480"/>
            <a:ext cx="822960" cy="57938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6400800"/>
            <a:ext cx="10908792" cy="10973"/>
          </a:xfrm>
          <a:prstGeom prst="rect">
            <a:avLst/>
          </a:prstGeom>
          <a:solidFill>
            <a:srgbClr val="EAE1D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TERRA-LINK  ·  Charte graphique v2.0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634472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" y="1874520"/>
            <a:ext cx="10908792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0"/>
            </a:solidFill>
            <a:prstDash val="solid"/>
          </a:ln>
        </p:spPr>
      </p:sp>
      <p:pic>
        <p:nvPicPr>
          <p:cNvPr id="10" name="Image 1" descr="/home/claude/assets/logo_col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5960"/>
            <a:ext cx="502920" cy="35407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08760" y="1965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05C4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TERRA-LINK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484632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Accueil     Services     Comment ça marche     À propos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9372600" y="1965960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B65F2E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9372600" y="19659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Demander un diagnostic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640080" y="2423160"/>
            <a:ext cx="10908792" cy="2103120"/>
          </a:xfrm>
          <a:prstGeom prst="rect">
            <a:avLst/>
          </a:prstGeom>
          <a:solidFill>
            <a:srgbClr val="234531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1097280" y="265176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DDA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SUIVI D’EXPLOITATION À DISTANCE</a:t>
            </a:r>
            <a:endParaRPr lang="en-US" sz="850" dirty="0"/>
          </a:p>
        </p:txBody>
      </p:sp>
      <p:sp>
        <p:nvSpPr>
          <p:cNvPr id="17" name="Text 13"/>
          <p:cNvSpPr txBox="1"/>
          <p:nvPr/>
        </p:nvSpPr>
        <p:spPr>
          <a:xfrm>
            <a:off x="1097280" y="288036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Votre exploitation avance. Même quand vous êtes loin.</a:t>
            </a:r>
            <a:endParaRPr lang="en-US" sz="2300" dirty="0"/>
          </a:p>
        </p:txBody>
      </p:sp>
      <p:sp>
        <p:nvSpPr>
          <p:cNvPr id="18" name="Shape 14"/>
          <p:cNvSpPr/>
          <p:nvPr/>
        </p:nvSpPr>
        <p:spPr>
          <a:xfrm>
            <a:off x="1097280" y="3886200"/>
            <a:ext cx="3017520" cy="384048"/>
          </a:xfrm>
          <a:prstGeom prst="roundRect">
            <a:avLst>
              <a:gd name="adj" fmla="val 14286"/>
            </a:avLst>
          </a:prstGeom>
          <a:solidFill>
            <a:srgbClr val="B65F2E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1097280" y="38862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Demander un diagnostic de mon exploitation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4251960" y="388620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23453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4251960" y="3886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Découvrir comment ça marche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7863840" y="2651760"/>
            <a:ext cx="3200400" cy="1691640"/>
          </a:xfrm>
          <a:prstGeom prst="roundRect">
            <a:avLst>
              <a:gd name="adj" fmla="val 7568"/>
            </a:avLst>
          </a:prstGeom>
          <a:solidFill>
            <a:srgbClr val="305C41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7863840" y="2651760"/>
            <a:ext cx="3200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7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Photo de terrain 4:3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640080" y="4526280"/>
            <a:ext cx="10908792" cy="1783080"/>
          </a:xfrm>
          <a:prstGeom prst="rect">
            <a:avLst/>
          </a:prstGeom>
          <a:solidFill>
            <a:srgbClr val="F4EFE6"/>
          </a:solidFill>
          <a:ln/>
        </p:spPr>
      </p:sp>
      <p:sp>
        <p:nvSpPr>
          <p:cNvPr id="25" name="Shape 21"/>
          <p:cNvSpPr/>
          <p:nvPr/>
        </p:nvSpPr>
        <p:spPr>
          <a:xfrm>
            <a:off x="1097280" y="4754880"/>
            <a:ext cx="31089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pic>
        <p:nvPicPr>
          <p:cNvPr id="26" name="Image 2" descr="/home/claude/src/x/ppt/media/image-7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4937760"/>
            <a:ext cx="365760" cy="36576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325880" y="5394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05C4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Un suivi documenté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4480560" y="4754880"/>
            <a:ext cx="31089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pic>
        <p:nvPicPr>
          <p:cNvPr id="29" name="Image 3" descr="/home/claude/src/x/ppt/media/image-7-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4937760"/>
            <a:ext cx="365760" cy="36576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4709160" y="5394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05C4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Des rapports clairs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7863840" y="4754880"/>
            <a:ext cx="31089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pic>
        <p:nvPicPr>
          <p:cNvPr id="32" name="Image 4" descr="/home/claude/src/x/ppt/media/image-7-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4937760"/>
            <a:ext cx="365760" cy="36576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8092440" y="5394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05C4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Des recommandations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10058400" y="580644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305C41"/>
          </a:solidFill>
          <a:ln/>
        </p:spPr>
      </p:sp>
      <p:sp>
        <p:nvSpPr>
          <p:cNvPr id="35" name="Text 28"/>
          <p:cNvSpPr txBox="1"/>
          <p:nvPr/>
        </p:nvSpPr>
        <p:spPr>
          <a:xfrm>
            <a:off x="10058400" y="5806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WhatsApp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C4A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09 — POUR LE DÉVELOPPEUR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05C4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Variables CSS prêtes à copier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À placer en tête de la feuille de style. Toutes les couleurs et mesures du site passent par ces variables.</a:t>
            </a:r>
            <a:endParaRPr lang="en-US" sz="1200" dirty="0"/>
          </a:p>
        </p:txBody>
      </p:sp>
      <p:pic>
        <p:nvPicPr>
          <p:cNvPr id="5" name="Image 0" descr="/home/claude/assets/logo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411480"/>
            <a:ext cx="822960" cy="57938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6400800"/>
            <a:ext cx="10908792" cy="10973"/>
          </a:xfrm>
          <a:prstGeom prst="rect">
            <a:avLst/>
          </a:prstGeom>
          <a:solidFill>
            <a:srgbClr val="EAE1D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TERRA-LINK  ·  Charte graphique v2.0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634472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" y="196596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2B2A2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14400" y="2103120"/>
            <a:ext cx="49377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8E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:root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8E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Couleurs */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8E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--tl-green: #305C41;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8E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--tl-green-dark: #234531;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8E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--tl-green-tint: #E3ECE5;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8E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--tl-terracotta: #B65F2E;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8E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--tl-terracotta-dark: #8C4A22;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8E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--tl-terracotta-tint: #F5E3D6;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8E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--tl-gold: #DDA641;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8E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--tl-sand: #F4EFE6;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8E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--tl-sand-2: #EAE1D2;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8E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--tl-charcoal: #2B2A28;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8E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--tl-white: #FFFFFF;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8E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--tl-border: #D8CFC0;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8E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--tl-muted: #6B675F;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8E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Typographie */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8E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--font-title: 'Lora', Georgia, serif;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8E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--font-body: 'Poppins', 'Segoe UI', Arial, sans-serif;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199632" y="196596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2B2A2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73952" y="2103120"/>
            <a:ext cx="49377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8E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Rayons &amp; ombres */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8E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--radius-s: 8px;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8E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--radius-m: 16px;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8E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--radius-pill: 999px;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8E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--shadow-s: 0 1px 3px rgba(43,42,40,.08);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8E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--shadow-m: 0 8px 24px rgba(43,42,40,.12);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8E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Espacements */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8E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--space-1: 4px;  --space-2: 8px;  --space-3: 12px;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8E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--space-4: 16px; --space-5: 24px; --space-6: 32px;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8E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--space-7: 48px; --space-8: 64px; --space-9: 96px;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8E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--container: 1200px;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8E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8E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.btn-primary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8E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var(--tl-terracotta); color: #fff;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8E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min-height: 48px; padding: 0 var(--space-5);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8E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border-radius: var(--radius-s);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8E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font: 600 16px var(--font-body);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8E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8E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.btn-primary:hover { background: var(--tl-terracotta-dark); }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8E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:focus-visible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8E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outline: 3px solid var(--tl-gold);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8E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outline-offset: 2px;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8E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C4A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09 — POUR LE DÉVELOPPEUR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05C4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Fichiers à fournir et règles d’intégration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 que le développeur doit recevoir en plus de ce document, et les standards à respecter.</a:t>
            </a:r>
            <a:endParaRPr lang="en-US" sz="1200" dirty="0"/>
          </a:p>
        </p:txBody>
      </p:sp>
      <p:pic>
        <p:nvPicPr>
          <p:cNvPr id="5" name="Image 0" descr="/home/claude/assets/logo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411480"/>
            <a:ext cx="822960" cy="57938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6400800"/>
            <a:ext cx="10908792" cy="10973"/>
          </a:xfrm>
          <a:prstGeom prst="rect">
            <a:avLst/>
          </a:prstGeom>
          <a:solidFill>
            <a:srgbClr val="EAE1D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TERRA-LINK  ·  Charte graphique v2.0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634472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9659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C4A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FICHIERS À FOURNIR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40080" y="2286000"/>
            <a:ext cx="5394960" cy="548640"/>
          </a:xfrm>
          <a:prstGeom prst="roundRect">
            <a:avLst>
              <a:gd name="adj" fmla="val 16667"/>
            </a:avLst>
          </a:prstGeom>
          <a:solidFill>
            <a:srgbClr val="F4EFE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22960" y="22860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Symbole en SVG : couleur, blanc, monochrome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0" y="2423160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F5E3D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572000" y="24231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C4A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À produire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40080" y="2926080"/>
            <a:ext cx="5394960" cy="548640"/>
          </a:xfrm>
          <a:prstGeom prst="roundRect">
            <a:avLst>
              <a:gd name="adj" fmla="val 16667"/>
            </a:avLst>
          </a:prstGeom>
          <a:solidFill>
            <a:srgbClr val="F4EFE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22960" y="29260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Logotype horizontal (symbole + TERRA-LINK) en SVG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0" y="3063240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F5E3D6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572000" y="30632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C4A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À produire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40080" y="3566160"/>
            <a:ext cx="5394960" cy="548640"/>
          </a:xfrm>
          <a:prstGeom prst="roundRect">
            <a:avLst>
              <a:gd name="adj" fmla="val 16667"/>
            </a:avLst>
          </a:prstGeom>
          <a:solidFill>
            <a:srgbClr val="F4EFE6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22960" y="35661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Favicon : symbole seul, 32 · 180 · 512 px + SVG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0" y="3703320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F5E3D6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572000" y="37033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C4A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À produire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40080" y="4206240"/>
            <a:ext cx="5394960" cy="548640"/>
          </a:xfrm>
          <a:prstGeom prst="roundRect">
            <a:avLst>
              <a:gd name="adj" fmla="val 16667"/>
            </a:avLst>
          </a:prstGeom>
          <a:solidFill>
            <a:srgbClr val="F4EFE6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22960" y="42062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Image de partage réseaux (Open Graph) 1200 × 630 px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572000" y="4343400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F5E3D6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4572000" y="43434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C4A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À produire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40080" y="4846320"/>
            <a:ext cx="5394960" cy="548640"/>
          </a:xfrm>
          <a:prstGeom prst="roundRect">
            <a:avLst>
              <a:gd name="adj" fmla="val 16667"/>
            </a:avLst>
          </a:prstGeom>
          <a:solidFill>
            <a:srgbClr val="F4EFE6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822960" y="48463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Photos de terrain en haute définition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40080" y="5486400"/>
            <a:ext cx="5394960" cy="548640"/>
          </a:xfrm>
          <a:prstGeom prst="roundRect">
            <a:avLst>
              <a:gd name="adj" fmla="val 16667"/>
            </a:avLst>
          </a:prstGeom>
          <a:solidFill>
            <a:srgbClr val="F4EFE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22960" y="54864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Textes des pages (cahier des charges)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6309360" y="19659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C4A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RÈGLES D’INTÉGRATION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6309360" y="2286000"/>
            <a:ext cx="5239512" cy="548640"/>
          </a:xfrm>
          <a:prstGeom prst="roundRect">
            <a:avLst>
              <a:gd name="adj" fmla="val 16667"/>
            </a:avLst>
          </a:prstGeom>
          <a:solidFill>
            <a:srgbClr val="E3ECE5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492240" y="22860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Mobile-first : contenu lisible dès 360 px de large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309360" y="2926080"/>
            <a:ext cx="5239512" cy="548640"/>
          </a:xfrm>
          <a:prstGeom prst="roundRect">
            <a:avLst>
              <a:gd name="adj" fmla="val 16667"/>
            </a:avLst>
          </a:prstGeom>
          <a:solidFill>
            <a:srgbClr val="E3ECE5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6492240" y="2926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Contraste WCAG AA minimum (voir page 06)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309360" y="3566160"/>
            <a:ext cx="5239512" cy="548640"/>
          </a:xfrm>
          <a:prstGeom prst="roundRect">
            <a:avLst>
              <a:gd name="adj" fmla="val 16667"/>
            </a:avLst>
          </a:prstGeom>
          <a:solidFill>
            <a:srgbClr val="E3ECE5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6492240" y="35661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Google Fonts : display=swap, sous-ensemble latin, 2 familles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6309360" y="4206240"/>
            <a:ext cx="5239512" cy="548640"/>
          </a:xfrm>
          <a:prstGeom prst="roundRect">
            <a:avLst>
              <a:gd name="adj" fmla="val 16667"/>
            </a:avLst>
          </a:prstGeom>
          <a:solidFill>
            <a:srgbClr val="E3ECE5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6492240" y="42062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Images WebP, chargement différé, page &lt; 1,5 Mo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6309360" y="4846320"/>
            <a:ext cx="5239512" cy="548640"/>
          </a:xfrm>
          <a:prstGeom prst="roundRect">
            <a:avLst>
              <a:gd name="adj" fmla="val 16667"/>
            </a:avLst>
          </a:prstGeom>
          <a:solidFill>
            <a:srgbClr val="E3ECE5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6492240" y="48463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Focus clavier visible, cibles tactiles ≥ 44 px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6309360" y="5486400"/>
            <a:ext cx="5239512" cy="548640"/>
          </a:xfrm>
          <a:prstGeom prst="roundRect">
            <a:avLst>
              <a:gd name="adj" fmla="val 16667"/>
            </a:avLst>
          </a:prstGeom>
          <a:solidFill>
            <a:srgbClr val="E3ECE5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6492240" y="5486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Animations discrètes (≤ 200 ms), prefers-reduced-motion respecté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Terra-Link — Charte graphique v2.0</dc:title>
  <dc:subject>PptxGenJS Presentation</dc:subject>
  <dc:creator>Terra-Link</dc:creator>
  <cp:lastModifiedBy>Terra-Link</cp:lastModifiedBy>
  <cp:revision>1</cp:revision>
  <dcterms:created xsi:type="dcterms:W3CDTF">2026-10-14T19:08:43Z</dcterms:created>
  <dcterms:modified xsi:type="dcterms:W3CDTF">2026-10-14T19:08:43Z</dcterms:modified>
</cp:coreProperties>
</file>